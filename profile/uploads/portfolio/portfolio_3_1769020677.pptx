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lexandria Semi Bold" panose="020B0604020202020204" charset="-78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Sora Light" panose="020B0604020202020204" charset="0"/>
      <p:regular r:id="rId18"/>
    </p:embeddedFont>
  </p:embeddedFontLst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64" y="-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837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876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430780"/>
            <a:ext cx="7627382" cy="1870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4000" b="1" dirty="0">
                <a:solidFill>
                  <a:srgbClr val="1F1E1E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MédMoz24H: Revolucionando o Acesso à Saúde em Moçambique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58309" y="4585692"/>
            <a:ext cx="7627382" cy="1213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Uma proposta tecnológica e inovadora para superar os desafios do sistema de saúde moçambicano, alinhada com as diretrizes globais de saúde digital. O MédMoz24H visa transformar a forma como os cidadãos acedem e interagem com os serviços médicos.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753" y="0"/>
            <a:ext cx="6338493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054418"/>
            <a:ext cx="13113782" cy="1122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600" dirty="0">
                <a:solidFill>
                  <a:srgbClr val="1F1E1E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O Contexto e o Desafio: Limitações do Sistema de Saúde Nacional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8309" y="2517934"/>
            <a:ext cx="13113782" cy="545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O sistema de saúde em Moçambique enfrenta obstáculos significativos que afetam a qualidade e a prontidão do atendimento, especialmente para a população mais vulnerável. A nossa solução nasce da necessidade urgente de mitigar estas barreiras e democratizar o acesso.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8309" y="5078968"/>
            <a:ext cx="13113782" cy="22860"/>
          </a:xfrm>
          <a:prstGeom prst="roundRect">
            <a:avLst>
              <a:gd name="adj" fmla="val 313478"/>
            </a:avLst>
          </a:prstGeom>
          <a:solidFill>
            <a:srgbClr val="BBC2DC"/>
          </a:solidFill>
          <a:ln/>
        </p:spPr>
      </p:sp>
      <p:sp>
        <p:nvSpPr>
          <p:cNvPr id="5" name="Shape 3"/>
          <p:cNvSpPr/>
          <p:nvPr/>
        </p:nvSpPr>
        <p:spPr>
          <a:xfrm>
            <a:off x="758309" y="3255645"/>
            <a:ext cx="4229100" cy="744379"/>
          </a:xfrm>
          <a:prstGeom prst="roundRect">
            <a:avLst>
              <a:gd name="adj" fmla="val 3930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651" y="3433882"/>
            <a:ext cx="3716417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b="1" dirty="0">
                <a:solidFill>
                  <a:srgbClr val="3B3535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Longas Filas e Tempos de Espera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36546" y="3816787"/>
            <a:ext cx="3872627" cy="1091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200650" y="5101828"/>
            <a:ext cx="4229100" cy="689372"/>
          </a:xfrm>
          <a:prstGeom prst="rect">
            <a:avLst/>
          </a:prstGeom>
          <a:solidFill>
            <a:srgbClr val="D5DCF6"/>
          </a:solidFill>
          <a:ln/>
        </p:spPr>
      </p:sp>
      <p:sp>
        <p:nvSpPr>
          <p:cNvPr id="9" name="Text 7"/>
          <p:cNvSpPr/>
          <p:nvPr/>
        </p:nvSpPr>
        <p:spPr>
          <a:xfrm>
            <a:off x="5823823" y="5272445"/>
            <a:ext cx="2982754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B3535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Diagnósticos Tardiamente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378887" y="5655350"/>
            <a:ext cx="3872627" cy="429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42991" y="3255645"/>
            <a:ext cx="4229100" cy="1823323"/>
          </a:xfrm>
          <a:prstGeom prst="roundRect">
            <a:avLst>
              <a:gd name="adj" fmla="val 3930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56758" y="3433882"/>
            <a:ext cx="3001447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Fragmentação de Serviços</a:t>
            </a:r>
            <a:endParaRPr lang="en-US" sz="1750" b="1" dirty="0"/>
          </a:p>
        </p:txBody>
      </p:sp>
      <p:sp>
        <p:nvSpPr>
          <p:cNvPr id="13" name="Text 11"/>
          <p:cNvSpPr/>
          <p:nvPr/>
        </p:nvSpPr>
        <p:spPr>
          <a:xfrm>
            <a:off x="9821228" y="3816787"/>
            <a:ext cx="3872627" cy="1091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A falta de integração entre as iniciativas de saúde digital e o atendimento presencial cria lacunas no acompanhamento do paciente e na continuidade do cuidado.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tângulo arredondado 13"/>
          <p:cNvSpPr/>
          <p:nvPr/>
        </p:nvSpPr>
        <p:spPr>
          <a:xfrm>
            <a:off x="12724805" y="7695516"/>
            <a:ext cx="1818509" cy="44699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279803"/>
            <a:ext cx="13113782" cy="124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4000" dirty="0">
                <a:solidFill>
                  <a:srgbClr val="1F1E1E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MédMoz24H: Um Sistema Integrado de Apoio à Decisão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8309" y="2905958"/>
            <a:ext cx="1311378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O MédMoz24H é mais do que uma plataforma de marcação; é um sistema automatizado que fornece suporte à decisão em tempo real, otimizando o fluxo de trabalho e garantindo que os pacientes certos cheguem ao nível de cuidado apropriado mais rapidamente.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8309" y="4010025"/>
            <a:ext cx="4244816" cy="2939653"/>
          </a:xfrm>
          <a:prstGeom prst="roundRect">
            <a:avLst>
              <a:gd name="adj" fmla="val 3733"/>
            </a:avLst>
          </a:prstGeom>
          <a:solidFill>
            <a:srgbClr val="FFFAFA"/>
          </a:solidFill>
          <a:ln/>
        </p:spPr>
      </p:sp>
      <p:sp>
        <p:nvSpPr>
          <p:cNvPr id="5" name="Shape 3"/>
          <p:cNvSpPr/>
          <p:nvPr/>
        </p:nvSpPr>
        <p:spPr>
          <a:xfrm>
            <a:off x="758309" y="3987165"/>
            <a:ext cx="4244816" cy="91440"/>
          </a:xfrm>
          <a:prstGeom prst="roundRect">
            <a:avLst>
              <a:gd name="adj" fmla="val 87077"/>
            </a:avLst>
          </a:prstGeom>
          <a:solidFill>
            <a:srgbClr val="1A2D7A"/>
          </a:solidFill>
          <a:ln/>
        </p:spPr>
      </p:sp>
      <p:sp>
        <p:nvSpPr>
          <p:cNvPr id="6" name="Shape 4"/>
          <p:cNvSpPr/>
          <p:nvPr/>
        </p:nvSpPr>
        <p:spPr>
          <a:xfrm>
            <a:off x="2596396" y="3725704"/>
            <a:ext cx="568643" cy="568643"/>
          </a:xfrm>
          <a:prstGeom prst="roundRect">
            <a:avLst>
              <a:gd name="adj" fmla="val 160804"/>
            </a:avLst>
          </a:prstGeom>
          <a:solidFill>
            <a:srgbClr val="1A2D7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7013" y="3867864"/>
            <a:ext cx="227409" cy="2843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70717" y="4483894"/>
            <a:ext cx="3277791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Triagem Online Complexa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70717" y="4909304"/>
            <a:ext cx="3820001" cy="1516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Permite que os pacientes insiram sintomas e histórico, gerando um pré-diagnóstico estruturado e recomendações imediatas de próximos passos, com alta precisão.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192673" y="4010025"/>
            <a:ext cx="4244935" cy="2939653"/>
          </a:xfrm>
          <a:prstGeom prst="roundRect">
            <a:avLst>
              <a:gd name="adj" fmla="val 3733"/>
            </a:avLst>
          </a:prstGeom>
          <a:solidFill>
            <a:srgbClr val="FFFAFA"/>
          </a:solidFill>
          <a:ln/>
        </p:spPr>
      </p:sp>
      <p:sp>
        <p:nvSpPr>
          <p:cNvPr id="11" name="Shape 8"/>
          <p:cNvSpPr/>
          <p:nvPr/>
        </p:nvSpPr>
        <p:spPr>
          <a:xfrm>
            <a:off x="5192673" y="3987165"/>
            <a:ext cx="4244935" cy="91440"/>
          </a:xfrm>
          <a:prstGeom prst="roundRect">
            <a:avLst>
              <a:gd name="adj" fmla="val 87077"/>
            </a:avLst>
          </a:prstGeom>
          <a:solidFill>
            <a:srgbClr val="1A2D7A"/>
          </a:solidFill>
          <a:ln/>
        </p:spPr>
      </p:sp>
      <p:sp>
        <p:nvSpPr>
          <p:cNvPr id="12" name="Shape 9"/>
          <p:cNvSpPr/>
          <p:nvPr/>
        </p:nvSpPr>
        <p:spPr>
          <a:xfrm>
            <a:off x="7030760" y="3725704"/>
            <a:ext cx="568643" cy="568643"/>
          </a:xfrm>
          <a:prstGeom prst="roundRect">
            <a:avLst>
              <a:gd name="adj" fmla="val 160804"/>
            </a:avLst>
          </a:prstGeom>
          <a:solidFill>
            <a:srgbClr val="1A2D7A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1376" y="3867864"/>
            <a:ext cx="227409" cy="2843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05080" y="4483894"/>
            <a:ext cx="3815120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Marcação de Consultas Online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5405080" y="4909304"/>
            <a:ext cx="3820120" cy="1213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Conecta os utilizadores a médicos e especialistas credenciados, gerindo a disponibilidade e otimizando a agenda para reduzir tempos de espera.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9627156" y="4010025"/>
            <a:ext cx="4244816" cy="2939653"/>
          </a:xfrm>
          <a:prstGeom prst="roundRect">
            <a:avLst>
              <a:gd name="adj" fmla="val 3733"/>
            </a:avLst>
          </a:prstGeom>
          <a:solidFill>
            <a:srgbClr val="FFFAFA"/>
          </a:solidFill>
          <a:ln/>
        </p:spPr>
      </p:sp>
      <p:sp>
        <p:nvSpPr>
          <p:cNvPr id="17" name="Shape 13"/>
          <p:cNvSpPr/>
          <p:nvPr/>
        </p:nvSpPr>
        <p:spPr>
          <a:xfrm>
            <a:off x="9627156" y="3987165"/>
            <a:ext cx="4244816" cy="91440"/>
          </a:xfrm>
          <a:prstGeom prst="roundRect">
            <a:avLst>
              <a:gd name="adj" fmla="val 87077"/>
            </a:avLst>
          </a:prstGeom>
          <a:solidFill>
            <a:srgbClr val="1A2D7A"/>
          </a:solidFill>
          <a:ln/>
        </p:spPr>
      </p:sp>
      <p:sp>
        <p:nvSpPr>
          <p:cNvPr id="18" name="Shape 14"/>
          <p:cNvSpPr/>
          <p:nvPr/>
        </p:nvSpPr>
        <p:spPr>
          <a:xfrm>
            <a:off x="11465243" y="3725704"/>
            <a:ext cx="568643" cy="568643"/>
          </a:xfrm>
          <a:prstGeom prst="roundRect">
            <a:avLst>
              <a:gd name="adj" fmla="val 160804"/>
            </a:avLst>
          </a:prstGeom>
          <a:solidFill>
            <a:srgbClr val="1A2D7A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35859" y="3867864"/>
            <a:ext cx="227409" cy="28432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839563" y="4483894"/>
            <a:ext cx="3820001" cy="623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Emissão de Relatórios de Triagem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9839563" y="5221010"/>
            <a:ext cx="3820001" cy="1516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Cria relatórios detalhados que os pacientes podem levar para as unidades de saúde presenciais. Estes relatórios agilizam o processo de admissão e fornecem informação vital ao médico.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tângulo arredondado 21"/>
          <p:cNvSpPr/>
          <p:nvPr/>
        </p:nvSpPr>
        <p:spPr>
          <a:xfrm>
            <a:off x="12724805" y="7695516"/>
            <a:ext cx="1818509" cy="44699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651867"/>
            <a:ext cx="13113782" cy="124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Funcionalidade Central: Triagem Online Estruturada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58309" y="2353866"/>
            <a:ext cx="7683222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A Triagem Online Complexa é o coração do MédMoz24H. Utilizando algoritmos de inteligência artificial adaptados ao perfil epidemiológico moçambicano, a plataforma avalia a urgência e a natureza dos sintomas do paciente.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58309" y="3434239"/>
            <a:ext cx="768322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Avaliação Sintomática: Recolha estruturada de dados clínicos.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58309" y="3803809"/>
            <a:ext cx="768322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Definição de Prioridade: Classificação do caso (emergência, urgência, rotina) para direcionamento adequado.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58309" y="4476631"/>
            <a:ext cx="7683222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Recomendação Personalizada: Sugere o próximo passo: teleconsulta imediata, agendamento de consulta presencial, ou procura de emergência hospitalar.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8309" y="5557004"/>
            <a:ext cx="7683222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Isto garante que os recursos médicos escassos sejam alocados de forma mais eficiente, diminuindo a pressão sobre os serviços de emergência para casos não críticos.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ângulo arredondado 8"/>
          <p:cNvSpPr/>
          <p:nvPr/>
        </p:nvSpPr>
        <p:spPr>
          <a:xfrm>
            <a:off x="12724805" y="7695516"/>
            <a:ext cx="1818509" cy="44699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3723" y="1594339"/>
            <a:ext cx="6149590" cy="61011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58309" y="571976"/>
            <a:ext cx="7627382" cy="1122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Integração e Colaboração: A Rede de Médicos Externos</a:t>
            </a:r>
            <a:endParaRPr lang="en-US" sz="4400" b="1" dirty="0"/>
          </a:p>
        </p:txBody>
      </p:sp>
      <p:sp>
        <p:nvSpPr>
          <p:cNvPr id="4" name="Text 1"/>
          <p:cNvSpPr/>
          <p:nvPr/>
        </p:nvSpPr>
        <p:spPr>
          <a:xfrm>
            <a:off x="758309" y="1831232"/>
            <a:ext cx="7627382" cy="818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b="1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Um aspeto diferenciador e crucial para a sustentabilidade do sistema é a capacidade de integrar médicos externos (públicos e privados) na plataforma. Este mecanismo promove uma colaboração inédita no setor de saúde moçambicano.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58309" y="2960727"/>
            <a:ext cx="682466" cy="1542812"/>
          </a:xfrm>
          <a:prstGeom prst="roundRect">
            <a:avLst>
              <a:gd name="adj" fmla="val 360010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3572232"/>
            <a:ext cx="255865" cy="3198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01391" y="3717608"/>
            <a:ext cx="2970609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b="1" dirty="0">
                <a:solidFill>
                  <a:srgbClr val="3B3535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Credenciamento Rigoroso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611392" y="3514249"/>
            <a:ext cx="6774299" cy="818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758309" y="4674156"/>
            <a:ext cx="682466" cy="1542812"/>
          </a:xfrm>
          <a:prstGeom prst="roundRect">
            <a:avLst>
              <a:gd name="adj" fmla="val 360010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5285661"/>
            <a:ext cx="255865" cy="31980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11392" y="4844772"/>
            <a:ext cx="2244923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b="1" dirty="0">
                <a:solidFill>
                  <a:srgbClr val="3B3535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Ampliação da Rede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611392" y="5227677"/>
            <a:ext cx="6774299" cy="818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b="1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Aumenta significativamente a capacidade de atendimento, permitindo que a população tenha acesso a mais opções de cuidados especializados, mesmo em áreas remotas.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758309" y="6387584"/>
            <a:ext cx="682466" cy="1269921"/>
          </a:xfrm>
          <a:prstGeom prst="roundRect">
            <a:avLst>
              <a:gd name="adj" fmla="val 360010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6862643"/>
            <a:ext cx="255865" cy="31980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11392" y="6558201"/>
            <a:ext cx="3073003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b="1" dirty="0">
                <a:solidFill>
                  <a:srgbClr val="3B3535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Integração</a:t>
            </a:r>
            <a:r>
              <a:rPr lang="en-US" sz="2400" b="1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 Público-Privada</a:t>
            </a:r>
            <a:endParaRPr lang="en-US" sz="2400" b="1" dirty="0"/>
          </a:p>
        </p:txBody>
      </p:sp>
      <p:sp>
        <p:nvSpPr>
          <p:cNvPr id="16" name="Text 10"/>
          <p:cNvSpPr/>
          <p:nvPr/>
        </p:nvSpPr>
        <p:spPr>
          <a:xfrm>
            <a:off x="1611392" y="6941106"/>
            <a:ext cx="6774299" cy="545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b="1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Cria um canal de colaboração eficaz, onde o sistema digital serve de ponte entre diferentes níveis e provedores de cuidados de saúde.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3355" y="-28596"/>
            <a:ext cx="5967045" cy="81945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772245"/>
            <a:ext cx="13113782" cy="124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1F1E1E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Impacto na População: Mais Acesso, Melhor Qualidade de Vida</a:t>
            </a: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3398401"/>
            <a:ext cx="568643" cy="5686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09" y="4203978"/>
            <a:ext cx="4213265" cy="623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b="1" dirty="0">
                <a:solidFill>
                  <a:srgbClr val="3B3535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Redução Imediata do Tempo de Espera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58309" y="4941094"/>
            <a:ext cx="4213265" cy="1516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b="1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A triagem prévia e a marcação organizada diminuem a afluência desnecessária às unidades, reduzindo drasticamente as longas filas e melhorando a experiência do utente.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8508" y="3398401"/>
            <a:ext cx="568643" cy="5686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08508" y="4203978"/>
            <a:ext cx="3121938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b="1" dirty="0">
                <a:solidFill>
                  <a:srgbClr val="3B3535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Diagnóstico Mais Rápido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208508" y="4629388"/>
            <a:ext cx="4213265" cy="1213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b="1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A triagem precoce permite a identificação e o encaminhamento atempado de casos urgentes, melhorando significativamente os prognósticos e desfechos clínicos.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8707" y="3398401"/>
            <a:ext cx="568643" cy="5686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58707" y="4203978"/>
            <a:ext cx="3185517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Apoio à Descentralização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9658707" y="4629388"/>
            <a:ext cx="4213384" cy="1516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b="1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O sistema digital permite prestar atendimento médico em áreas com infraestrutura física limitada, facilitando a descentralização e cobrindo "desertos médicos".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tângulo arredondado 11"/>
          <p:cNvSpPr/>
          <p:nvPr/>
        </p:nvSpPr>
        <p:spPr>
          <a:xfrm>
            <a:off x="12724805" y="7695516"/>
            <a:ext cx="1818509" cy="44699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465540"/>
            <a:ext cx="13113782" cy="124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1F1E1E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Alinhamento</a:t>
            </a:r>
            <a:r>
              <a:rPr lang="en-US" sz="39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 Estratégico: Saúde Digital e Moçambique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58309" y="3091696"/>
            <a:ext cx="1311378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b="1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O MédMoz24H posiciona Moçambique na vanguarda da saúde digital, implementando uma solução que se harmoniza com as prioridades de saúde pública e as tendências internacionais.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8309" y="3911441"/>
            <a:ext cx="13113782" cy="2336006"/>
          </a:xfrm>
          <a:prstGeom prst="roundRect">
            <a:avLst>
              <a:gd name="adj" fmla="val 340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5929" y="3919061"/>
            <a:ext cx="4366141" cy="2320766"/>
          </a:xfrm>
          <a:prstGeom prst="roundRect">
            <a:avLst>
              <a:gd name="adj" fmla="val 3431"/>
            </a:avLst>
          </a:prstGeom>
          <a:solidFill>
            <a:srgbClr val="D5DCF6"/>
          </a:solidFill>
          <a:ln/>
        </p:spPr>
      </p:sp>
      <p:sp>
        <p:nvSpPr>
          <p:cNvPr id="6" name="Text 4"/>
          <p:cNvSpPr/>
          <p:nvPr/>
        </p:nvSpPr>
        <p:spPr>
          <a:xfrm>
            <a:off x="955477" y="4108609"/>
            <a:ext cx="2864644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b="1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Normas Internacionais</a:t>
            </a:r>
            <a:endParaRPr lang="en-US" sz="2400" b="1" dirty="0"/>
          </a:p>
        </p:txBody>
      </p:sp>
      <p:sp>
        <p:nvSpPr>
          <p:cNvPr id="7" name="Text 5"/>
          <p:cNvSpPr/>
          <p:nvPr/>
        </p:nvSpPr>
        <p:spPr>
          <a:xfrm>
            <a:off x="955477" y="4534019"/>
            <a:ext cx="3702725" cy="1213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b="1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Adota princípios de interoperabilidade e segurança de dados, cruciais para a Saúde Digital global.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132070" y="3919061"/>
            <a:ext cx="4366141" cy="2320766"/>
          </a:xfrm>
          <a:prstGeom prst="rect">
            <a:avLst/>
          </a:prstGeom>
          <a:solidFill>
            <a:srgbClr val="D5DCF6"/>
          </a:solidFill>
          <a:ln/>
        </p:spPr>
      </p:sp>
      <p:sp>
        <p:nvSpPr>
          <p:cNvPr id="9" name="Shape 7"/>
          <p:cNvSpPr/>
          <p:nvPr/>
        </p:nvSpPr>
        <p:spPr>
          <a:xfrm>
            <a:off x="5132070" y="3919061"/>
            <a:ext cx="22860" cy="2320766"/>
          </a:xfrm>
          <a:prstGeom prst="roundRect">
            <a:avLst>
              <a:gd name="adj" fmla="val 348309"/>
            </a:avLst>
          </a:prstGeom>
          <a:solidFill>
            <a:srgbClr val="BBC2DC"/>
          </a:solidFill>
          <a:ln/>
        </p:spPr>
      </p:sp>
      <p:sp>
        <p:nvSpPr>
          <p:cNvPr id="10" name="Text 8"/>
          <p:cNvSpPr/>
          <p:nvPr/>
        </p:nvSpPr>
        <p:spPr>
          <a:xfrm>
            <a:off x="5605939" y="4108609"/>
            <a:ext cx="3309461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b="1" dirty="0">
                <a:solidFill>
                  <a:srgbClr val="3B3535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Metas Nacionais de Saúde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605939" y="4534019"/>
            <a:ext cx="3418403" cy="1516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b="1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Responde diretamente ao desafio de melhorar o acesso e a qualidade dos cuidados, conforme estipulado nos planos estratégicos de saúde de Moçambique.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95136" y="4842510"/>
            <a:ext cx="473869" cy="473869"/>
          </a:xfrm>
          <a:prstGeom prst="roundRect">
            <a:avLst>
              <a:gd name="adj" fmla="val 16803"/>
            </a:avLst>
          </a:prstGeom>
          <a:solidFill>
            <a:srgbClr val="FFFAFA"/>
          </a:solidFill>
          <a:ln w="22860">
            <a:solidFill>
              <a:srgbClr val="BBC2DC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603" y="4931331"/>
            <a:ext cx="236934" cy="29610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9498211" y="3919061"/>
            <a:ext cx="4366141" cy="2320766"/>
          </a:xfrm>
          <a:prstGeom prst="rect">
            <a:avLst/>
          </a:prstGeom>
          <a:solidFill>
            <a:srgbClr val="D5DCF6"/>
          </a:solidFill>
          <a:ln/>
        </p:spPr>
      </p:sp>
      <p:sp>
        <p:nvSpPr>
          <p:cNvPr id="15" name="Shape 12"/>
          <p:cNvSpPr/>
          <p:nvPr/>
        </p:nvSpPr>
        <p:spPr>
          <a:xfrm>
            <a:off x="9498211" y="3919061"/>
            <a:ext cx="22860" cy="2320766"/>
          </a:xfrm>
          <a:prstGeom prst="roundRect">
            <a:avLst>
              <a:gd name="adj" fmla="val 348309"/>
            </a:avLst>
          </a:prstGeom>
          <a:solidFill>
            <a:srgbClr val="BBC2DC"/>
          </a:solidFill>
          <a:ln/>
        </p:spPr>
      </p:sp>
      <p:sp>
        <p:nvSpPr>
          <p:cNvPr id="16" name="Text 13"/>
          <p:cNvSpPr/>
          <p:nvPr/>
        </p:nvSpPr>
        <p:spPr>
          <a:xfrm>
            <a:off x="9972080" y="4108609"/>
            <a:ext cx="2697361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b="1" dirty="0">
                <a:solidFill>
                  <a:srgbClr val="3B3535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Inovação Tecnológica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9972080" y="4534019"/>
            <a:ext cx="3702725" cy="1213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b="1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Representa uma pesquisa fundamental que sustenta a implementação de tecnologias avançadas para resolver problemas de saúde do mundo real.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9261277" y="4842510"/>
            <a:ext cx="473869" cy="473869"/>
          </a:xfrm>
          <a:prstGeom prst="roundRect">
            <a:avLst>
              <a:gd name="adj" fmla="val 16803"/>
            </a:avLst>
          </a:prstGeom>
          <a:solidFill>
            <a:srgbClr val="FFFAFA"/>
          </a:solidFill>
          <a:ln w="22860">
            <a:solidFill>
              <a:srgbClr val="BBC2DC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9744" y="4931331"/>
            <a:ext cx="236934" cy="2961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58309" y="6460688"/>
            <a:ext cx="1311378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A implementação deste sistema é um passo decisivo para a modernização dos serviços de saúde no país.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tângulo arredondado 20"/>
          <p:cNvSpPr/>
          <p:nvPr/>
        </p:nvSpPr>
        <p:spPr>
          <a:xfrm>
            <a:off x="12724805" y="7695516"/>
            <a:ext cx="1818509" cy="44699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44709" y="718899"/>
            <a:ext cx="7627382" cy="1870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Benefícios Socioeconómicos: Criação de Valor Além da Saúde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44709" y="2873812"/>
            <a:ext cx="7627382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Para além da melhoria dos indicadores de saúde, a operacionalização do MédMoz24H impulsiona a economia local através da criação de novas oportunidades de emprego e do desenvolvimento de competências digitais.</a:t>
            </a:r>
            <a:endParaRPr lang="en-US"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44709" y="4091583"/>
            <a:ext cx="2384465" cy="625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4900" b="1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100+</a:t>
            </a:r>
            <a:endParaRPr lang="en-US" sz="4900" b="1" dirty="0"/>
          </a:p>
        </p:txBody>
      </p:sp>
      <p:sp>
        <p:nvSpPr>
          <p:cNvPr id="6" name="Text 3"/>
          <p:cNvSpPr/>
          <p:nvPr/>
        </p:nvSpPr>
        <p:spPr>
          <a:xfrm>
            <a:off x="6244709" y="4954072"/>
            <a:ext cx="2384465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B3535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Empregos Digitais</a:t>
            </a:r>
            <a:endParaRPr lang="en-US" sz="19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244709" y="5379482"/>
            <a:ext cx="2384465" cy="1819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Criação de novos postos de trabalho para técnicos de suporte, gestores de dados e consultores de telemedicina.</a:t>
            </a:r>
            <a:endParaRPr lang="en-US"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866108" y="4091583"/>
            <a:ext cx="2384465" cy="625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4900" b="1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50+</a:t>
            </a:r>
            <a:endParaRPr lang="en-US" sz="4900" b="1" dirty="0"/>
          </a:p>
        </p:txBody>
      </p:sp>
      <p:sp>
        <p:nvSpPr>
          <p:cNvPr id="9" name="Text 6"/>
          <p:cNvSpPr/>
          <p:nvPr/>
        </p:nvSpPr>
        <p:spPr>
          <a:xfrm>
            <a:off x="8866108" y="4954072"/>
            <a:ext cx="2384465" cy="623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B3535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Oportunidades de Consultoria</a:t>
            </a:r>
            <a:endParaRPr lang="en-US" sz="19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866108" y="5691188"/>
            <a:ext cx="2384465" cy="1819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Necessidade de consultores em TI, saúde pública e regulamentação para o desenvolvimento e manutenção do sistema.</a:t>
            </a:r>
            <a:endParaRPr lang="en-US"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1487507" y="4091583"/>
            <a:ext cx="2384465" cy="625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4900" b="1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1M+</a:t>
            </a:r>
            <a:endParaRPr lang="en-US" sz="4900" b="1" dirty="0"/>
          </a:p>
        </p:txBody>
      </p:sp>
      <p:sp>
        <p:nvSpPr>
          <p:cNvPr id="12" name="Text 9"/>
          <p:cNvSpPr/>
          <p:nvPr/>
        </p:nvSpPr>
        <p:spPr>
          <a:xfrm>
            <a:off x="11487507" y="4954072"/>
            <a:ext cx="2384465" cy="623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B3535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Potencial de Utilizadores</a:t>
            </a:r>
            <a:endParaRPr lang="en-US" sz="19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1487507" y="5691188"/>
            <a:ext cx="2384465" cy="1516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Impacto direto na saúde e produtividade de milhões de moçambicanos ao longo da sua implementação.</a:t>
            </a:r>
            <a:endParaRPr lang="en-US"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tângulo arredondado 13"/>
          <p:cNvSpPr/>
          <p:nvPr/>
        </p:nvSpPr>
        <p:spPr>
          <a:xfrm>
            <a:off x="12724805" y="7695516"/>
            <a:ext cx="1818509" cy="44699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5720862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147888"/>
            <a:ext cx="13113782" cy="124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1F1E1E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Conclusão: O Caminho para a Saúde 24H em Moçambique</a:t>
            </a: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42630" y="3987284"/>
            <a:ext cx="12829461" cy="758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400" b="1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"O MédMoz24H não é apenas uma ferramenta de triagem e marcação; é a infraestrutura digital que Moçambique precisa para garantir que o cuidado certo chegue à pessoa certa, no momento certo."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8309" y="3774043"/>
            <a:ext cx="22860" cy="1184672"/>
          </a:xfrm>
          <a:prstGeom prst="rect">
            <a:avLst/>
          </a:prstGeom>
          <a:solidFill>
            <a:srgbClr val="1A2D7A"/>
          </a:solidFill>
          <a:ln/>
        </p:spPr>
      </p:sp>
      <p:sp>
        <p:nvSpPr>
          <p:cNvPr id="5" name="Text 3"/>
          <p:cNvSpPr/>
          <p:nvPr/>
        </p:nvSpPr>
        <p:spPr>
          <a:xfrm>
            <a:off x="758309" y="5171956"/>
            <a:ext cx="13113782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b="1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O nosso projeto representa uma solução robusta e escalável para os problemas crónicos de acesso e eficiência. Convidamos as autoridades e os parceiros estratégicos a unirem-se a nós nesta missão de transformar o panorama da saúde moçambicana, garantindo que o atendimento médico de qualidade esteja sempre disponível.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tângulo arredondado 5"/>
          <p:cNvSpPr/>
          <p:nvPr/>
        </p:nvSpPr>
        <p:spPr>
          <a:xfrm>
            <a:off x="12724805" y="7695516"/>
            <a:ext cx="1818509" cy="44699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5308" y="381714"/>
            <a:ext cx="5367218" cy="456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b="1" dirty="0">
                <a:solidFill>
                  <a:srgbClr val="1F1E1E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Próximos Passos e Contactos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55308" y="1115973"/>
            <a:ext cx="13519785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b="1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Agradecemos o seu tempo e interesse no MédMoz24H. O sucesso deste projeto depende da colaboração e do investimento estratégico.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55308" y="1632942"/>
            <a:ext cx="2925961" cy="228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b="1" dirty="0">
                <a:solidFill>
                  <a:srgbClr val="1F1E1E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Fases de Implementação Chave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55308" y="2000012"/>
            <a:ext cx="6590586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b="1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Fase 1: Piloto em duas províncias chave.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55308" y="2270641"/>
            <a:ext cx="6590586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b="1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Fase 2: Expansão da plataforma e credenciamento de médicos externos.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55308" y="2541270"/>
            <a:ext cx="6590586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b="1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Fase 3: Integração total com o Sistema Nacional de Informação em Saúde (SNIS).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0" descr="preencoded.png">
            <a:hlinkClick r:id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308" y="2919413"/>
            <a:ext cx="1390174" cy="381714"/>
          </a:xfrm>
          <a:prstGeom prst="rect">
            <a:avLst/>
          </a:prstGeom>
        </p:spPr>
      </p:pic>
      <p:pic>
        <p:nvPicPr>
          <p:cNvPr id="9" name="Image 1" descr="preencoded.png">
            <a:hlinkClick r:id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4895" y="2919413"/>
            <a:ext cx="1961197" cy="38171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55308" y="8622329"/>
            <a:ext cx="13519785" cy="24884"/>
          </a:xfrm>
          <a:prstGeom prst="rect">
            <a:avLst/>
          </a:prstGeom>
          <a:solidFill>
            <a:srgbClr val="3B3535">
              <a:alpha val="50000"/>
            </a:srgbClr>
          </a:solidFill>
          <a:ln/>
        </p:spPr>
      </p:sp>
      <p:sp>
        <p:nvSpPr>
          <p:cNvPr id="12" name="Text 7"/>
          <p:cNvSpPr/>
          <p:nvPr/>
        </p:nvSpPr>
        <p:spPr>
          <a:xfrm>
            <a:off x="555308" y="8803243"/>
            <a:ext cx="13519785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Para mais informações ou parcerias, contacte a nossa equipa de desenvolvimento.</a:t>
            </a:r>
            <a:endParaRPr lang="en-US" sz="1050" dirty="0"/>
          </a:p>
        </p:txBody>
      </p:sp>
      <p:sp>
        <p:nvSpPr>
          <p:cNvPr id="13" name="Retângulo arredondado 12"/>
          <p:cNvSpPr/>
          <p:nvPr/>
        </p:nvSpPr>
        <p:spPr>
          <a:xfrm>
            <a:off x="12724805" y="7695516"/>
            <a:ext cx="1818509" cy="44699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14" name="Image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603916"/>
            <a:ext cx="9365993" cy="1625684"/>
          </a:xfrm>
          <a:prstGeom prst="rect">
            <a:avLst/>
          </a:prstGeom>
        </p:spPr>
      </p:pic>
      <p:pic>
        <p:nvPicPr>
          <p:cNvPr id="15" name="Imagem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5993" y="2763322"/>
            <a:ext cx="5177322" cy="54662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1005</Words>
  <Application>Microsoft Office PowerPoint</Application>
  <PresentationFormat>Personalizados</PresentationFormat>
  <Paragraphs>76</Paragraphs>
  <Slides>10</Slides>
  <Notes>10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6" baseType="lpstr">
      <vt:lpstr>Alexandria Semi Bold</vt:lpstr>
      <vt:lpstr>Calibri</vt:lpstr>
      <vt:lpstr>Sora Light</vt:lpstr>
      <vt:lpstr>Times New Roman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lastModifiedBy>Mecer</cp:lastModifiedBy>
  <cp:revision>13</cp:revision>
  <dcterms:created xsi:type="dcterms:W3CDTF">2025-10-15T11:31:03Z</dcterms:created>
  <dcterms:modified xsi:type="dcterms:W3CDTF">2025-10-15T15:12:13Z</dcterms:modified>
</cp:coreProperties>
</file>