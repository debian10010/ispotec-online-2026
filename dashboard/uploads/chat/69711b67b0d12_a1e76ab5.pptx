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Merriweather" panose="020B0604020202020204" charset="0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49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99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-4-6.svg"/><Relationship Id="rId12" Type="http://schemas.openxmlformats.org/officeDocument/2006/relationships/image" Target="../media/image-4-12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-4-3.svg"/><Relationship Id="rId15" Type="http://schemas.openxmlformats.org/officeDocument/2006/relationships/image" Target="../media/image-4-15.sv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-4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50198" y="735925"/>
            <a:ext cx="7416403" cy="1079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6800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ISPOTEC-CIPRAT</a:t>
            </a:r>
            <a:endParaRPr lang="en-US" sz="6800" dirty="0"/>
          </a:p>
        </p:txBody>
      </p:sp>
      <p:sp>
        <p:nvSpPr>
          <p:cNvPr id="4" name="Text 1"/>
          <p:cNvSpPr/>
          <p:nvPr/>
        </p:nvSpPr>
        <p:spPr>
          <a:xfrm>
            <a:off x="6350198" y="2074902"/>
            <a:ext cx="7416403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Centro de Investigação e Práticas Tecnológicas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350198" y="3413879"/>
            <a:ext cx="7416403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Unidade técnico-científica dedicada à </a:t>
            </a:r>
            <a:r>
              <a:rPr lang="en-US" sz="13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inovação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en-US" sz="13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pesquisa aplicada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 </a:t>
            </a:r>
            <a:r>
              <a:rPr lang="en-US" sz="13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desenvolvimento tecnológico</a:t>
            </a: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transformando ideias em soluções com impacto real.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50198" y="4247173"/>
            <a:ext cx="7416403" cy="29170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350198" y="4470559"/>
            <a:ext cx="3621762" cy="1839635"/>
          </a:xfrm>
          <a:prstGeom prst="roundRect">
            <a:avLst>
              <a:gd name="adj" fmla="val 3945"/>
            </a:avLst>
          </a:prstGeom>
          <a:solidFill>
            <a:srgbClr val="609DFF"/>
          </a:solidFill>
          <a:ln w="7620">
            <a:solidFill>
              <a:srgbClr val="468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0578" y="4650938"/>
            <a:ext cx="215967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30578" y="5024438"/>
            <a:ext cx="3261003" cy="82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Promover investigação e inovação tecnológica com impacto social e desenvolvimento sustentável.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144720" y="4470559"/>
            <a:ext cx="3621881" cy="1839635"/>
          </a:xfrm>
          <a:prstGeom prst="roundRect">
            <a:avLst>
              <a:gd name="adj" fmla="val 3945"/>
            </a:avLst>
          </a:prstGeom>
          <a:solidFill>
            <a:srgbClr val="041938"/>
          </a:solidFill>
          <a:ln w="7620">
            <a:solidFill>
              <a:srgbClr val="1D32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25100" y="4650938"/>
            <a:ext cx="215967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Visão 2025–2030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325100" y="5024438"/>
            <a:ext cx="3261122" cy="110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 referência nacional e regional em investigação aplicada, tecnologias emergentes e empreendedorismo científico.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73358" y="6933248"/>
            <a:ext cx="7648185" cy="1224132"/>
          </a:xfrm>
          <a:prstGeom prst="roundRect">
            <a:avLst>
              <a:gd name="adj" fmla="val 7181"/>
            </a:avLst>
          </a:prstGeom>
          <a:solidFill>
            <a:srgbClr val="013180"/>
          </a:solidFill>
          <a:ln w="7620">
            <a:solidFill>
              <a:srgbClr val="1A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76350" y="7328722"/>
            <a:ext cx="230243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Valores Fundamentais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76350" y="7702221"/>
            <a:ext cx="7055644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Inovação • Excelência • Impacto Social • Ética • Inclusão</a:t>
            </a:r>
            <a:endParaRPr lang="en-US" sz="1350" dirty="0"/>
          </a:p>
        </p:txBody>
      </p:sp>
      <p:pic>
        <p:nvPicPr>
          <p:cNvPr id="2050" name="Picture 2" descr="https://i.pinimg.com/736x/13/b3/c4/13b3c4ee1b5a3ac066cbe2044498b2f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4" y="0"/>
            <a:ext cx="6237514" cy="815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22008"/>
            <a:ext cx="7480102" cy="65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Eixos Estratégicos 2025–2030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863798" y="1897142"/>
            <a:ext cx="12902803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Cinco pilares interligados que orientam o desenvolvimento institucional e o impacto científico.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63798" y="2783443"/>
            <a:ext cx="4160996" cy="2217658"/>
          </a:xfrm>
          <a:prstGeom prst="roundRect">
            <a:avLst>
              <a:gd name="adj" fmla="val 4948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3798" y="2760583"/>
            <a:ext cx="4160996" cy="91440"/>
          </a:xfrm>
          <a:prstGeom prst="roundRect">
            <a:avLst>
              <a:gd name="adj" fmla="val 96368"/>
            </a:avLst>
          </a:prstGeom>
          <a:solidFill>
            <a:srgbClr val="609DFF"/>
          </a:solidFill>
          <a:ln/>
        </p:spPr>
      </p:sp>
      <p:sp>
        <p:nvSpPr>
          <p:cNvPr id="6" name="Shape 4"/>
          <p:cNvSpPr/>
          <p:nvPr/>
        </p:nvSpPr>
        <p:spPr>
          <a:xfrm>
            <a:off x="2629614" y="2468761"/>
            <a:ext cx="629364" cy="629364"/>
          </a:xfrm>
          <a:prstGeom prst="roundRect">
            <a:avLst>
              <a:gd name="adj" fmla="val 145290"/>
            </a:avLst>
          </a:prstGeom>
          <a:solidFill>
            <a:srgbClr val="609DFF"/>
          </a:solidFill>
          <a:ln/>
        </p:spPr>
      </p:sp>
      <p:sp>
        <p:nvSpPr>
          <p:cNvPr id="7" name="Text 5"/>
          <p:cNvSpPr/>
          <p:nvPr/>
        </p:nvSpPr>
        <p:spPr>
          <a:xfrm>
            <a:off x="2818448" y="2626043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96447" y="3307913"/>
            <a:ext cx="3384709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Infraestrutura Tecnológica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96447" y="3761542"/>
            <a:ext cx="3695700" cy="10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Modernizar laboratórios: 4 multidisciplinares, 1 realidade virtual, 1 atelier prototipagem.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234583" y="2783443"/>
            <a:ext cx="4161115" cy="2217658"/>
          </a:xfrm>
          <a:prstGeom prst="roundRect">
            <a:avLst>
              <a:gd name="adj" fmla="val 4948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4583" y="2760583"/>
            <a:ext cx="4161115" cy="91440"/>
          </a:xfrm>
          <a:prstGeom prst="roundRect">
            <a:avLst>
              <a:gd name="adj" fmla="val 96368"/>
            </a:avLst>
          </a:prstGeom>
          <a:solidFill>
            <a:srgbClr val="609D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00399" y="2468761"/>
            <a:ext cx="629364" cy="629364"/>
          </a:xfrm>
          <a:prstGeom prst="roundRect">
            <a:avLst>
              <a:gd name="adj" fmla="val 145290"/>
            </a:avLst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89232" y="2626043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67231" y="3307913"/>
            <a:ext cx="2729270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Investigação Aplicada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5467231" y="3761542"/>
            <a:ext cx="3695819" cy="10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25 publicações científicas, 6 grupos permanentes, 12 protótipos desenvolvidos até 2030.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605486" y="2783443"/>
            <a:ext cx="4160996" cy="2217658"/>
          </a:xfrm>
          <a:prstGeom prst="roundRect">
            <a:avLst>
              <a:gd name="adj" fmla="val 4948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05486" y="2760583"/>
            <a:ext cx="4160996" cy="91440"/>
          </a:xfrm>
          <a:prstGeom prst="roundRect">
            <a:avLst>
              <a:gd name="adj" fmla="val 96368"/>
            </a:avLst>
          </a:prstGeom>
          <a:solidFill>
            <a:srgbClr val="609D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71302" y="2468761"/>
            <a:ext cx="629364" cy="629364"/>
          </a:xfrm>
          <a:prstGeom prst="roundRect">
            <a:avLst>
              <a:gd name="adj" fmla="val 145290"/>
            </a:avLst>
          </a:prstGeom>
          <a:solidFill>
            <a:srgbClr val="609D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560135" y="2626043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38134" y="3307913"/>
            <a:ext cx="3010257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Formação e Capacitação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9838134" y="3761542"/>
            <a:ext cx="3695700" cy="10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60 programas formativos, 200 alunos/ano, certificações tecnológicas reconhecidas.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63798" y="5525572"/>
            <a:ext cx="6346388" cy="1882021"/>
          </a:xfrm>
          <a:prstGeom prst="roundRect">
            <a:avLst>
              <a:gd name="adj" fmla="val 5830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63798" y="5502712"/>
            <a:ext cx="6346388" cy="91440"/>
          </a:xfrm>
          <a:prstGeom prst="roundRect">
            <a:avLst>
              <a:gd name="adj" fmla="val 96368"/>
            </a:avLst>
          </a:prstGeom>
          <a:solidFill>
            <a:srgbClr val="609D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722251" y="5210889"/>
            <a:ext cx="629364" cy="629364"/>
          </a:xfrm>
          <a:prstGeom prst="roundRect">
            <a:avLst>
              <a:gd name="adj" fmla="val 145290"/>
            </a:avLst>
          </a:prstGeom>
          <a:solidFill>
            <a:srgbClr val="609DFF"/>
          </a:solidFill>
          <a:ln/>
        </p:spPr>
      </p:sp>
      <p:sp>
        <p:nvSpPr>
          <p:cNvPr id="25" name="Text 23"/>
          <p:cNvSpPr/>
          <p:nvPr/>
        </p:nvSpPr>
        <p:spPr>
          <a:xfrm>
            <a:off x="3911084" y="5368171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96447" y="6050042"/>
            <a:ext cx="3895487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Inovação e Empreendedorismo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1096447" y="6503670"/>
            <a:ext cx="5881092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 incubadora operacional, 20 startups apoiadas, feiras anuais de empreendedorismo.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419975" y="5525572"/>
            <a:ext cx="6346508" cy="1882021"/>
          </a:xfrm>
          <a:prstGeom prst="roundRect">
            <a:avLst>
              <a:gd name="adj" fmla="val 5830"/>
            </a:avLst>
          </a:prstGeom>
          <a:solidFill>
            <a:srgbClr val="09151A">
              <a:alpha val="9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19975" y="5502712"/>
            <a:ext cx="6346508" cy="91440"/>
          </a:xfrm>
          <a:prstGeom prst="roundRect">
            <a:avLst>
              <a:gd name="adj" fmla="val 96368"/>
            </a:avLst>
          </a:prstGeom>
          <a:solidFill>
            <a:srgbClr val="609D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78547" y="5210889"/>
            <a:ext cx="629364" cy="629364"/>
          </a:xfrm>
          <a:prstGeom prst="roundRect">
            <a:avLst>
              <a:gd name="adj" fmla="val 145290"/>
            </a:avLst>
          </a:prstGeom>
          <a:solidFill>
            <a:srgbClr val="609D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67380" y="5368171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652623" y="6050042"/>
            <a:ext cx="2886313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Parcerias e Cooperação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7652623" y="6503670"/>
            <a:ext cx="5881211" cy="67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15 parcerias nacionais, 5 internacionais, projetos colaborativos financiados.</a:t>
            </a:r>
            <a:endParaRPr lang="en-US" sz="1650" dirty="0"/>
          </a:p>
        </p:txBody>
      </p:sp>
      <p:sp>
        <p:nvSpPr>
          <p:cNvPr id="34" name="Shape 27"/>
          <p:cNvSpPr/>
          <p:nvPr/>
        </p:nvSpPr>
        <p:spPr>
          <a:xfrm>
            <a:off x="1" y="7598806"/>
            <a:ext cx="14630400" cy="630794"/>
          </a:xfrm>
          <a:prstGeom prst="roundRect">
            <a:avLst>
              <a:gd name="adj" fmla="val 96368"/>
            </a:avLst>
          </a:prstGeom>
          <a:solidFill>
            <a:srgbClr val="609D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01464" y="404693"/>
            <a:ext cx="1913334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Áreas de Atuação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001464" y="787241"/>
            <a:ext cx="6262688" cy="412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Saúde • Educação • Engenharia • Gestão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001464" y="1438870"/>
            <a:ext cx="119574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Saúde e Bem-Estar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001464" y="1683901"/>
            <a:ext cx="3940254" cy="45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Desenvolvimento de tecnologias médicas inovadoras, dispositivos de diagnóstico avançados e soluções de telemedicina para melhorar a qualidade de vida e o acesso à saúde.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464" y="2250758"/>
            <a:ext cx="3262279" cy="2627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82701" y="1438870"/>
            <a:ext cx="134528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Educação e Capacitação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182701" y="1683901"/>
            <a:ext cx="3940254" cy="30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Programas de formação prática integrados com tecnologias emergentes, preparando profissionais para desafios contemporâneos e transformação digital.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058" y="2316957"/>
            <a:ext cx="3295052" cy="25611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01464" y="5122545"/>
            <a:ext cx="119574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Engenharia Aplicada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6001464" y="5367576"/>
            <a:ext cx="3940254" cy="30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Investigação e desenvolvimento em engenharia sustentável, automação industrial e sistemas inteligentes com aplicação prática imediata.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464" y="5781319"/>
            <a:ext cx="3262279" cy="24482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82701" y="5122545"/>
            <a:ext cx="119574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Gestão e Inovação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0182701" y="5367576"/>
            <a:ext cx="3940254" cy="30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Consultoria em transformação organizacional, análise de dados e estratégias de inovação para instituições e empresas.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4058" y="5668447"/>
            <a:ext cx="3295054" cy="2561153"/>
          </a:xfrm>
          <a:prstGeom prst="rect">
            <a:avLst/>
          </a:prstGeom>
        </p:spPr>
      </p:pic>
      <p:pic>
        <p:nvPicPr>
          <p:cNvPr id="1028" name="Picture 4" descr="Imagem do Pin de históri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6" y="119742"/>
            <a:ext cx="5824741" cy="810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10339"/>
            <a:ext cx="5134570" cy="578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Perspetivas de Impacto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63798" y="1758910"/>
            <a:ext cx="129028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Consolidação como centro de referência em investigação aplicada e transferência tecnológica para a sociedade.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099435" y="2263378"/>
            <a:ext cx="252222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Crescimento Científico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3798" y="2663666"/>
            <a:ext cx="4757857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Aumentar visibilidade e impacto através de publicações, prototipagem e projetos inovadores.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655" y="2336602"/>
            <a:ext cx="3386971" cy="338697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748760" y="3144500"/>
            <a:ext cx="260271" cy="260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08626" y="2263378"/>
            <a:ext cx="243244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Parcerias Estratégicas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008626" y="2663666"/>
            <a:ext cx="4757976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Fortalecer cooperações nacionais e internacionais para ampliar recursos e oportunidades.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655" y="2336602"/>
            <a:ext cx="3386971" cy="338697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621012" y="3144500"/>
            <a:ext cx="260271" cy="2602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78791" y="3533775"/>
            <a:ext cx="270795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Capacitação Profissional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378791" y="3934063"/>
            <a:ext cx="4387810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Formar talento preparado para inovação e empreendedorismo tecnológico.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1655" y="2336602"/>
            <a:ext cx="3386971" cy="338697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057019" y="3899833"/>
            <a:ext cx="260271" cy="26027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008626" y="4804172"/>
            <a:ext cx="231398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Inovação Social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9008626" y="5204460"/>
            <a:ext cx="4757976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Gerar soluções com impacto direto na saúde, educação e bem-estar comunitário.</a:t>
            </a:r>
            <a:endParaRPr lang="en-US" sz="14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21655" y="2336602"/>
            <a:ext cx="3386971" cy="3386971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621012" y="4655165"/>
            <a:ext cx="260271" cy="26027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307675" y="4804172"/>
            <a:ext cx="231398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Sustentabilidade</a:t>
            </a:r>
            <a:endParaRPr lang="en-US" sz="1800" dirty="0"/>
          </a:p>
        </p:txBody>
      </p:sp>
      <p:sp>
        <p:nvSpPr>
          <p:cNvPr id="21" name="Text 11"/>
          <p:cNvSpPr/>
          <p:nvPr/>
        </p:nvSpPr>
        <p:spPr>
          <a:xfrm>
            <a:off x="863798" y="5204460"/>
            <a:ext cx="4757857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Integrar desenvolvimento sustentável em todas as linhas de investigação e operações.</a:t>
            </a:r>
            <a:endParaRPr lang="en-US" sz="14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1655" y="2336602"/>
            <a:ext cx="3386971" cy="3386971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748760" y="4655165"/>
            <a:ext cx="260271" cy="260271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2937510" y="3533775"/>
            <a:ext cx="231398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Empreendedorismo</a:t>
            </a:r>
            <a:endParaRPr lang="en-US" sz="1800" dirty="0"/>
          </a:p>
        </p:txBody>
      </p:sp>
      <p:sp>
        <p:nvSpPr>
          <p:cNvPr id="25" name="Text 13"/>
          <p:cNvSpPr/>
          <p:nvPr/>
        </p:nvSpPr>
        <p:spPr>
          <a:xfrm>
            <a:off x="863798" y="3934063"/>
            <a:ext cx="4387691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Incubar e apoiar startups tecnológicas de base científica com potencial transformador.</a:t>
            </a:r>
            <a:endParaRPr lang="en-US" sz="145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21655" y="2336602"/>
            <a:ext cx="3386971" cy="3386971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863798" y="6097632"/>
            <a:ext cx="12902803" cy="30718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29" name="Shape 15"/>
          <p:cNvSpPr/>
          <p:nvPr/>
        </p:nvSpPr>
        <p:spPr>
          <a:xfrm>
            <a:off x="1" y="7063469"/>
            <a:ext cx="14630400" cy="1082754"/>
          </a:xfrm>
          <a:prstGeom prst="roundRect">
            <a:avLst>
              <a:gd name="adj" fmla="val 7181"/>
            </a:avLst>
          </a:prstGeom>
          <a:solidFill>
            <a:srgbClr val="001D4D"/>
          </a:solidFill>
          <a:ln/>
        </p:spPr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8823" y="7338504"/>
            <a:ext cx="231338" cy="185023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465184" y="7294689"/>
            <a:ext cx="12116395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Convite à Colaboração:</a:t>
            </a:r>
            <a:r>
              <a:rPr lang="en-US" sz="14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 CIPRAT está aberto a parcerias estratégicas com instituições académicas, investidores e organismos internacionais. Juntos, criaremos soluções inovadoras para os desafios do futuro.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398</Words>
  <Application>Microsoft Office PowerPoint</Application>
  <PresentationFormat>Personalizados</PresentationFormat>
  <Paragraphs>55</Paragraphs>
  <Slides>4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8" baseType="lpstr">
      <vt:lpstr>Merriweather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Mecer</cp:lastModifiedBy>
  <cp:revision>5</cp:revision>
  <dcterms:created xsi:type="dcterms:W3CDTF">2025-11-07T04:27:36Z</dcterms:created>
  <dcterms:modified xsi:type="dcterms:W3CDTF">2025-11-07T04:49:13Z</dcterms:modified>
</cp:coreProperties>
</file>